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70" r:id="rId9"/>
    <p:sldId id="271" r:id="rId10"/>
    <p:sldId id="264" r:id="rId11"/>
    <p:sldId id="269" r:id="rId12"/>
    <p:sldId id="265" r:id="rId13"/>
    <p:sldId id="267" r:id="rId14"/>
    <p:sldId id="266" r:id="rId15"/>
  </p:sldIdLst>
  <p:sldSz cx="18288000" cy="10287000"/>
  <p:notesSz cx="6858000" cy="9144000"/>
  <p:embeddedFontLst>
    <p:embeddedFont>
      <p:font typeface="HK Grotesk" panose="020B0604020202020204" charset="0"/>
      <p:regular r:id="rId17"/>
    </p:embeddedFont>
    <p:embeddedFont>
      <p:font typeface="HK Grotesk Bold" panose="020B0604020202020204" charset="0"/>
      <p:regular r:id="rId18"/>
    </p:embeddedFont>
    <p:embeddedFont>
      <p:font typeface="HK Grotesk Medium" panose="020B0604020202020204" charset="0"/>
      <p:regular r:id="rId19"/>
    </p:embeddedFont>
    <p:embeddedFont>
      <p:font typeface="Open Sans Bold" panose="020B0806030504020204" charset="0"/>
      <p:regular r:id="rId20"/>
    </p:embeddedFont>
    <p:embeddedFont>
      <p:font typeface="Open Sans Medium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AA7F79-D65A-4735-8C0F-26CC7886AC74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A2CA8-A7C5-4654-89BF-11B0CB1438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1510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A2CA8-A7C5-4654-89BF-11B0CB1438A4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9551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7" b="-37"/>
            </a:stretch>
          </a:blipFill>
        </p:spPr>
        <p:txBody>
          <a:bodyPr/>
          <a:lstStyle/>
          <a:p>
            <a:endParaRPr lang="pt-BR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4423666" y="9534525"/>
            <a:ext cx="7568718" cy="762000"/>
            <a:chOff x="0" y="0"/>
            <a:chExt cx="1993407" cy="2006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93407" cy="200691"/>
            </a:xfrm>
            <a:custGeom>
              <a:avLst/>
              <a:gdLst/>
              <a:ahLst/>
              <a:cxnLst/>
              <a:rect l="l" t="t" r="r" b="b"/>
              <a:pathLst>
                <a:path w="1993407" h="200691">
                  <a:moveTo>
                    <a:pt x="203200" y="0"/>
                  </a:moveTo>
                  <a:lnTo>
                    <a:pt x="1993407" y="0"/>
                  </a:lnTo>
                  <a:lnTo>
                    <a:pt x="1790207" y="200691"/>
                  </a:lnTo>
                  <a:lnTo>
                    <a:pt x="0" y="20069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55C8C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47625"/>
              <a:ext cx="1790207" cy="248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 lang="pt-BR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976941" y="0"/>
            <a:ext cx="7311059" cy="10287000"/>
            <a:chOff x="0" y="0"/>
            <a:chExt cx="9748079" cy="13716000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/>
            <a:srcRect l="26309" r="26309"/>
            <a:stretch>
              <a:fillRect/>
            </a:stretch>
          </p:blipFill>
          <p:spPr>
            <a:xfrm>
              <a:off x="0" y="0"/>
              <a:ext cx="9748079" cy="13716000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-1583156" y="-3773"/>
            <a:ext cx="7568718" cy="762000"/>
            <a:chOff x="0" y="0"/>
            <a:chExt cx="1993407" cy="2006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93407" cy="200691"/>
            </a:xfrm>
            <a:custGeom>
              <a:avLst/>
              <a:gdLst/>
              <a:ahLst/>
              <a:cxnLst/>
              <a:rect l="l" t="t" r="r" b="b"/>
              <a:pathLst>
                <a:path w="1993407" h="200691">
                  <a:moveTo>
                    <a:pt x="203200" y="0"/>
                  </a:moveTo>
                  <a:lnTo>
                    <a:pt x="1993407" y="0"/>
                  </a:lnTo>
                  <a:lnTo>
                    <a:pt x="1790207" y="200691"/>
                  </a:lnTo>
                  <a:lnTo>
                    <a:pt x="0" y="20069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55C8C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-47625"/>
              <a:ext cx="1790207" cy="248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 lang="pt-BR" noProof="0" dirty="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85476" y="963521"/>
            <a:ext cx="10050108" cy="2904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95"/>
              </a:lnSpc>
            </a:pPr>
            <a:r>
              <a:rPr lang="pt-BR" sz="10177" b="1" spc="-458" noProof="0" dirty="0">
                <a:solidFill>
                  <a:srgbClr val="255C8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Obra Integrada na construção civil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9929" y="3884881"/>
            <a:ext cx="6601223" cy="167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9"/>
              </a:lnSpc>
            </a:pPr>
            <a:r>
              <a:rPr lang="pt-BR" sz="2353" b="1" noProof="0" dirty="0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Integrantes:</a:t>
            </a:r>
          </a:p>
          <a:p>
            <a:pPr algn="l">
              <a:lnSpc>
                <a:spcPts val="2589"/>
              </a:lnSpc>
            </a:pPr>
            <a:r>
              <a:rPr lang="pt-BR" sz="2353" noProof="0" dirty="0" err="1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Kauã</a:t>
            </a:r>
            <a:r>
              <a:rPr lang="pt-BR" sz="2353" noProof="0" dirty="0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Ritson Botelho (202311262)</a:t>
            </a:r>
          </a:p>
          <a:p>
            <a:pPr algn="l">
              <a:lnSpc>
                <a:spcPts val="2589"/>
              </a:lnSpc>
            </a:pPr>
            <a:r>
              <a:rPr lang="pt-BR" sz="2353" noProof="0" dirty="0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Lucas Fernandes Machado de Souza (202420621)</a:t>
            </a:r>
          </a:p>
          <a:p>
            <a:pPr algn="l">
              <a:lnSpc>
                <a:spcPts val="2589"/>
              </a:lnSpc>
            </a:pPr>
            <a:r>
              <a:rPr lang="pt-BR" sz="2353" noProof="0" dirty="0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Pedro Miguel dos Santos Silva (202420667)</a:t>
            </a:r>
          </a:p>
          <a:p>
            <a:pPr algn="l">
              <a:lnSpc>
                <a:spcPts val="2589"/>
              </a:lnSpc>
            </a:pPr>
            <a:r>
              <a:rPr lang="pt-BR" sz="2353" noProof="0" dirty="0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Victor Campos de Medeiros Silva (202420088)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9929" y="6421711"/>
            <a:ext cx="6601223" cy="367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9"/>
              </a:lnSpc>
            </a:pPr>
            <a:r>
              <a:rPr lang="pt-BR" sz="2353" b="1" noProof="0" dirty="0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Disciplina: </a:t>
            </a:r>
            <a:r>
              <a:rPr lang="pt-BR" sz="2353" noProof="0" dirty="0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Projeto</a:t>
            </a:r>
          </a:p>
          <a:p>
            <a:pPr algn="l">
              <a:lnSpc>
                <a:spcPts val="2589"/>
              </a:lnSpc>
            </a:pPr>
            <a:r>
              <a:rPr lang="pt-BR" sz="2353" b="1" noProof="0" dirty="0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Período: </a:t>
            </a:r>
            <a:r>
              <a:rPr lang="pt-BR" sz="2353" noProof="0" dirty="0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3°</a:t>
            </a:r>
          </a:p>
          <a:p>
            <a:pPr algn="l">
              <a:lnSpc>
                <a:spcPts val="2589"/>
              </a:lnSpc>
            </a:pPr>
            <a:r>
              <a:rPr lang="pt-BR" sz="2353" b="1" noProof="0" dirty="0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Professores: </a:t>
            </a:r>
          </a:p>
          <a:p>
            <a:pPr algn="l">
              <a:lnSpc>
                <a:spcPts val="2589"/>
              </a:lnSpc>
            </a:pPr>
            <a:r>
              <a:rPr lang="pt-BR" sz="2353" noProof="0" dirty="0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Débora Amorim de Carvalho Paulo </a:t>
            </a:r>
          </a:p>
          <a:p>
            <a:pPr algn="l">
              <a:lnSpc>
                <a:spcPts val="2589"/>
              </a:lnSpc>
            </a:pPr>
            <a:r>
              <a:rPr lang="pt-BR" sz="2353" noProof="0" dirty="0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Leonardo Dias da Silva</a:t>
            </a:r>
          </a:p>
          <a:p>
            <a:pPr algn="l">
              <a:lnSpc>
                <a:spcPts val="2589"/>
              </a:lnSpc>
            </a:pPr>
            <a:r>
              <a:rPr lang="pt-BR" sz="2353" noProof="0" dirty="0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Marcelo Passos dos Santos</a:t>
            </a:r>
          </a:p>
          <a:p>
            <a:pPr algn="l">
              <a:lnSpc>
                <a:spcPts val="2589"/>
              </a:lnSpc>
            </a:pPr>
            <a:r>
              <a:rPr lang="pt-BR" sz="2353" noProof="0" dirty="0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Osni Augusto Souza da Silva </a:t>
            </a:r>
          </a:p>
          <a:p>
            <a:pPr algn="l">
              <a:lnSpc>
                <a:spcPts val="2589"/>
              </a:lnSpc>
            </a:pPr>
            <a:r>
              <a:rPr lang="pt-BR" sz="2353" noProof="0" dirty="0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Rafael Iacillo Soares </a:t>
            </a:r>
          </a:p>
          <a:p>
            <a:pPr algn="l">
              <a:lnSpc>
                <a:spcPts val="2589"/>
              </a:lnSpc>
            </a:pPr>
            <a:endParaRPr lang="pt-BR" sz="2353" b="1" noProof="0" dirty="0">
              <a:solidFill>
                <a:srgbClr val="000000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algn="l">
              <a:lnSpc>
                <a:spcPts val="2589"/>
              </a:lnSpc>
            </a:pPr>
            <a:r>
              <a:rPr lang="pt-BR" sz="2353" b="1" noProof="0" dirty="0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Coordenador de Curso:</a:t>
            </a:r>
            <a:r>
              <a:rPr lang="pt-BR" sz="2353" noProof="0" dirty="0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</a:p>
          <a:p>
            <a:pPr algn="l">
              <a:lnSpc>
                <a:spcPts val="2589"/>
              </a:lnSpc>
            </a:pPr>
            <a:r>
              <a:rPr lang="pt-BR" sz="2353" noProof="0" dirty="0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Carlos Eduardo Costa Vieira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7" b="-37"/>
            </a:stretch>
          </a:blipFill>
        </p:spPr>
        <p:txBody>
          <a:bodyPr/>
          <a:lstStyle/>
          <a:p>
            <a:endParaRPr lang="pt-BR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1345187" y="0"/>
            <a:ext cx="6662939" cy="762000"/>
            <a:chOff x="0" y="0"/>
            <a:chExt cx="1754848" cy="2006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54848" cy="200691"/>
            </a:xfrm>
            <a:custGeom>
              <a:avLst/>
              <a:gdLst/>
              <a:ahLst/>
              <a:cxnLst/>
              <a:rect l="l" t="t" r="r" b="b"/>
              <a:pathLst>
                <a:path w="1754848" h="200691">
                  <a:moveTo>
                    <a:pt x="203200" y="0"/>
                  </a:moveTo>
                  <a:lnTo>
                    <a:pt x="1754848" y="0"/>
                  </a:lnTo>
                  <a:lnTo>
                    <a:pt x="1551648" y="200691"/>
                  </a:lnTo>
                  <a:lnTo>
                    <a:pt x="0" y="20069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55C8C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47625"/>
              <a:ext cx="1551648" cy="248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 lang="pt-BR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3897968" y="9525000"/>
            <a:ext cx="6662939" cy="762000"/>
            <a:chOff x="0" y="0"/>
            <a:chExt cx="1754848" cy="20069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4848" cy="200691"/>
            </a:xfrm>
            <a:custGeom>
              <a:avLst/>
              <a:gdLst/>
              <a:ahLst/>
              <a:cxnLst/>
              <a:rect l="l" t="t" r="r" b="b"/>
              <a:pathLst>
                <a:path w="1754848" h="200691">
                  <a:moveTo>
                    <a:pt x="203200" y="0"/>
                  </a:moveTo>
                  <a:lnTo>
                    <a:pt x="1754848" y="0"/>
                  </a:lnTo>
                  <a:lnTo>
                    <a:pt x="1551648" y="200691"/>
                  </a:lnTo>
                  <a:lnTo>
                    <a:pt x="0" y="20069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55C8C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600" y="-47625"/>
              <a:ext cx="1551648" cy="248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 lang="pt-BR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0"/>
            <a:ext cx="9144000" cy="10287000"/>
            <a:chOff x="0" y="0"/>
            <a:chExt cx="12192000" cy="13716000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/>
            <a:srcRect l="30253" r="19820"/>
            <a:stretch>
              <a:fillRect/>
            </a:stretch>
          </p:blipFill>
          <p:spPr>
            <a:xfrm>
              <a:off x="0" y="0"/>
              <a:ext cx="12192000" cy="13716000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448892" y="1234089"/>
            <a:ext cx="8508668" cy="1003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pt-BR" sz="7000" b="1" noProof="0" dirty="0">
                <a:solidFill>
                  <a:srgbClr val="255C8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Contexto / Problema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1865" y="3100005"/>
            <a:ext cx="6526756" cy="458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algn="l">
              <a:lnSpc>
                <a:spcPts val="3000"/>
              </a:lnSpc>
            </a:pPr>
            <a:r>
              <a:rPr lang="pt-BR" sz="2000" b="1" noProof="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Contexto: </a:t>
            </a:r>
            <a:r>
              <a:rPr lang="pt-BR" sz="2000" noProof="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 setor da construção civil, especialmente em pequenas e médias obras, ainda depende de métodos tradicionais, como anotações manuais e cálculos em papel.</a:t>
            </a:r>
          </a:p>
          <a:p>
            <a:pPr algn="l">
              <a:lnSpc>
                <a:spcPts val="3000"/>
              </a:lnSpc>
            </a:pPr>
            <a:endParaRPr lang="pt-BR" sz="2000" b="1" noProof="0" dirty="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215901" lvl="1" algn="l">
              <a:lnSpc>
                <a:spcPts val="3000"/>
              </a:lnSpc>
            </a:pPr>
            <a:r>
              <a:rPr lang="pt-BR" sz="2000" b="1" noProof="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Problema: </a:t>
            </a:r>
            <a:r>
              <a:rPr lang="pt-BR" sz="2000" noProof="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Essa prática gera informações descentralizadas, falta de padronização, falhas de comunicação e desperdício de materiais, resultando em retrabalho e aumento dos custos.</a:t>
            </a:r>
          </a:p>
          <a:p>
            <a:pPr algn="l">
              <a:lnSpc>
                <a:spcPts val="3000"/>
              </a:lnSpc>
            </a:pPr>
            <a:endParaRPr lang="pt-BR" sz="2000" b="1" noProof="0" dirty="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215901" lvl="1" algn="l">
              <a:lnSpc>
                <a:spcPts val="3000"/>
              </a:lnSpc>
            </a:pPr>
            <a:r>
              <a:rPr lang="pt-BR" sz="2000" b="1" noProof="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Público-alvo: </a:t>
            </a:r>
            <a:r>
              <a:rPr lang="pt-BR" sz="2000" noProof="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Mestres de obra, pedreiros, pequenos construtores, engenheiros, clientes e fornecedores.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C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/>
          <p:cNvSpPr txBox="1"/>
          <p:nvPr/>
        </p:nvSpPr>
        <p:spPr>
          <a:xfrm>
            <a:off x="457200" y="4096514"/>
            <a:ext cx="8915400" cy="41458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000"/>
              </a:lnSpc>
            </a:pPr>
            <a:r>
              <a:rPr lang="pt-BR" sz="8000" b="1" dirty="0">
                <a:solidFill>
                  <a:schemeClr val="bg1"/>
                </a:solidFill>
              </a:rPr>
              <a:t>Modelos de entidades e Relacionamentos (MER)</a:t>
            </a:r>
            <a:endParaRPr lang="pt-BR" sz="8000" b="1" noProof="0" dirty="0">
              <a:solidFill>
                <a:schemeClr val="bg1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pic>
        <p:nvPicPr>
          <p:cNvPr id="32" name="Imagem 31" descr="Diagrama&#10;&#10;O conteúdo gerado por IA pode estar incorreto.">
            <a:extLst>
              <a:ext uri="{FF2B5EF4-FFF2-40B4-BE49-F238E27FC236}">
                <a16:creationId xmlns:a16="http://schemas.microsoft.com/office/drawing/2014/main" id="{BA36625C-4965-7698-C475-9FEF63048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033" y="-1"/>
            <a:ext cx="9095967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C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15400" y="952499"/>
            <a:ext cx="9144000" cy="8610601"/>
            <a:chOff x="0" y="0"/>
            <a:chExt cx="1696424" cy="5063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6424" cy="506366"/>
            </a:xfrm>
            <a:custGeom>
              <a:avLst/>
              <a:gdLst/>
              <a:ahLst/>
              <a:cxnLst/>
              <a:rect l="l" t="t" r="r" b="b"/>
              <a:pathLst>
                <a:path w="1696424" h="506366">
                  <a:moveTo>
                    <a:pt x="13221" y="0"/>
                  </a:moveTo>
                  <a:lnTo>
                    <a:pt x="1683203" y="0"/>
                  </a:lnTo>
                  <a:cubicBezTo>
                    <a:pt x="1690505" y="0"/>
                    <a:pt x="1696424" y="5919"/>
                    <a:pt x="1696424" y="13221"/>
                  </a:cubicBezTo>
                  <a:lnTo>
                    <a:pt x="1696424" y="493144"/>
                  </a:lnTo>
                  <a:cubicBezTo>
                    <a:pt x="1696424" y="496651"/>
                    <a:pt x="1695031" y="500014"/>
                    <a:pt x="1692552" y="502493"/>
                  </a:cubicBezTo>
                  <a:cubicBezTo>
                    <a:pt x="1690072" y="504973"/>
                    <a:pt x="1686709" y="506366"/>
                    <a:pt x="1683203" y="506366"/>
                  </a:cubicBezTo>
                  <a:lnTo>
                    <a:pt x="13221" y="506366"/>
                  </a:lnTo>
                  <a:cubicBezTo>
                    <a:pt x="5919" y="506366"/>
                    <a:pt x="0" y="500446"/>
                    <a:pt x="0" y="493144"/>
                  </a:cubicBezTo>
                  <a:lnTo>
                    <a:pt x="0" y="13221"/>
                  </a:lnTo>
                  <a:cubicBezTo>
                    <a:pt x="0" y="9715"/>
                    <a:pt x="1393" y="6352"/>
                    <a:pt x="3872" y="3872"/>
                  </a:cubicBezTo>
                  <a:cubicBezTo>
                    <a:pt x="6352" y="1393"/>
                    <a:pt x="9715" y="0"/>
                    <a:pt x="1322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96424" cy="553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 lang="pt-BR" noProof="0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62000" y="4152900"/>
            <a:ext cx="7476334" cy="227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800"/>
              </a:lnSpc>
            </a:pPr>
            <a:r>
              <a:rPr lang="pt-BR" sz="8000" b="1" dirty="0">
                <a:solidFill>
                  <a:schemeClr val="bg1"/>
                </a:solidFill>
              </a:rPr>
              <a:t>Estrutura do MER (lista de tabelas)</a:t>
            </a:r>
            <a:endParaRPr lang="pt-BR" sz="8000" b="1" noProof="0" dirty="0">
              <a:solidFill>
                <a:schemeClr val="bg1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0" y="1113043"/>
            <a:ext cx="8763000" cy="8203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3000" noProof="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Destaque das principais entidades e relacionamentos (1:N,N:N)</a:t>
            </a:r>
            <a:br>
              <a:rPr lang="pt-BR" sz="3000" noProof="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br>
              <a:rPr lang="pt-BR" sz="3000" noProof="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r>
              <a:rPr lang="pt-BR" sz="3000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Principais entidades:</a:t>
            </a:r>
            <a:r>
              <a:rPr lang="pt-BR" sz="3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 Obra (</a:t>
            </a:r>
            <a:r>
              <a:rPr lang="pt-BR" sz="3000" dirty="0" err="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tb_obra</a:t>
            </a:r>
            <a:r>
              <a:rPr lang="pt-BR" sz="3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), Usuário(</a:t>
            </a:r>
            <a:r>
              <a:rPr lang="pt-BR" sz="3000" dirty="0" err="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tb_usuario</a:t>
            </a:r>
            <a:r>
              <a:rPr lang="pt-BR" sz="3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), Material(</a:t>
            </a:r>
            <a:r>
              <a:rPr lang="pt-BR" sz="3000" dirty="0" err="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tb_material</a:t>
            </a:r>
            <a:r>
              <a:rPr lang="pt-BR" sz="3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), Etapa(</a:t>
            </a:r>
            <a:r>
              <a:rPr lang="pt-BR" sz="3000" dirty="0" err="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tb_etapa</a:t>
            </a:r>
            <a:r>
              <a:rPr lang="pt-BR" sz="3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).</a:t>
            </a:r>
          </a:p>
          <a:p>
            <a:endParaRPr lang="pt-BR" sz="3000" dirty="0">
              <a:solidFill>
                <a:srgbClr val="000000"/>
              </a:solidFill>
              <a:latin typeface="Open Sans Medium"/>
              <a:ea typeface="Open Sans Medium"/>
              <a:cs typeface="Open Sans Medium"/>
            </a:endParaRPr>
          </a:p>
          <a:p>
            <a:r>
              <a:rPr lang="pt-BR" sz="3000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Relacionamentos (Chaves Estrangeiras):</a:t>
            </a:r>
          </a:p>
          <a:p>
            <a:r>
              <a:rPr lang="pt-BR" sz="3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1:N (Um para Muitos): Uma Obra possui várias Etapas(</a:t>
            </a:r>
            <a:r>
              <a:rPr lang="pt-BR" sz="3000" dirty="0" err="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tb_etapa</a:t>
            </a:r>
            <a:r>
              <a:rPr lang="pt-BR" sz="3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).</a:t>
            </a:r>
          </a:p>
          <a:p>
            <a:endParaRPr lang="pt-BR" sz="3000" dirty="0">
              <a:solidFill>
                <a:srgbClr val="000000"/>
              </a:solidFill>
              <a:latin typeface="Open Sans Medium"/>
              <a:ea typeface="Open Sans Medium"/>
              <a:cs typeface="Open Sans Medium"/>
            </a:endParaRPr>
          </a:p>
          <a:p>
            <a:r>
              <a:rPr lang="pt-BR" sz="3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N:N (Muitos para Muitos): Usuários e Obras, mediado pela tabela </a:t>
            </a:r>
            <a:r>
              <a:rPr lang="pt-BR" sz="3000" dirty="0" err="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tb_fornecimentos</a:t>
            </a:r>
            <a:r>
              <a:rPr lang="pt-BR" sz="3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.</a:t>
            </a:r>
          </a:p>
          <a:p>
            <a:endParaRPr lang="pt-BR" sz="3000" dirty="0">
              <a:solidFill>
                <a:srgbClr val="000000"/>
              </a:solidFill>
              <a:latin typeface="Open Sans Medium"/>
              <a:ea typeface="Open Sans Medium"/>
              <a:cs typeface="Open Sans Medium"/>
            </a:endParaRPr>
          </a:p>
          <a:p>
            <a:r>
              <a:rPr lang="pt-BR" sz="3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N:N (Muitos para Muitos): Materiais e Fornecedores, mediado pela tabela </a:t>
            </a:r>
            <a:r>
              <a:rPr lang="pt-BR" sz="3000" dirty="0" err="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tb_fornecimentos</a:t>
            </a:r>
            <a:r>
              <a:rPr lang="pt-BR" sz="3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.</a:t>
            </a:r>
          </a:p>
          <a:p>
            <a:pPr algn="l">
              <a:lnSpc>
                <a:spcPts val="3000"/>
              </a:lnSpc>
            </a:pPr>
            <a:endParaRPr lang="pt-BR" sz="2000" noProof="0" dirty="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C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97320" y="3886834"/>
            <a:ext cx="3387429" cy="4359851"/>
            <a:chOff x="0" y="0"/>
            <a:chExt cx="892162" cy="11482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2162" cy="1148274"/>
            </a:xfrm>
            <a:custGeom>
              <a:avLst/>
              <a:gdLst/>
              <a:ahLst/>
              <a:cxnLst/>
              <a:rect l="l" t="t" r="r" b="b"/>
              <a:pathLst>
                <a:path w="892162" h="1148274">
                  <a:moveTo>
                    <a:pt x="25140" y="0"/>
                  </a:moveTo>
                  <a:lnTo>
                    <a:pt x="867022" y="0"/>
                  </a:lnTo>
                  <a:cubicBezTo>
                    <a:pt x="880907" y="0"/>
                    <a:pt x="892162" y="11256"/>
                    <a:pt x="892162" y="25140"/>
                  </a:cubicBezTo>
                  <a:lnTo>
                    <a:pt x="892162" y="1123133"/>
                  </a:lnTo>
                  <a:cubicBezTo>
                    <a:pt x="892162" y="1137018"/>
                    <a:pt x="880907" y="1148274"/>
                    <a:pt x="867022" y="1148274"/>
                  </a:cubicBezTo>
                  <a:lnTo>
                    <a:pt x="25140" y="1148274"/>
                  </a:lnTo>
                  <a:cubicBezTo>
                    <a:pt x="11256" y="1148274"/>
                    <a:pt x="0" y="1137018"/>
                    <a:pt x="0" y="1123133"/>
                  </a:cubicBezTo>
                  <a:lnTo>
                    <a:pt x="0" y="25140"/>
                  </a:lnTo>
                  <a:cubicBezTo>
                    <a:pt x="0" y="11256"/>
                    <a:pt x="11256" y="0"/>
                    <a:pt x="2514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92162" cy="1195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 lang="pt-BR" noProof="0"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32424" y="3886834"/>
            <a:ext cx="3387429" cy="4359851"/>
            <a:chOff x="0" y="0"/>
            <a:chExt cx="892162" cy="11482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2162" cy="1148274"/>
            </a:xfrm>
            <a:custGeom>
              <a:avLst/>
              <a:gdLst/>
              <a:ahLst/>
              <a:cxnLst/>
              <a:rect l="l" t="t" r="r" b="b"/>
              <a:pathLst>
                <a:path w="892162" h="1148274">
                  <a:moveTo>
                    <a:pt x="25140" y="0"/>
                  </a:moveTo>
                  <a:lnTo>
                    <a:pt x="867022" y="0"/>
                  </a:lnTo>
                  <a:cubicBezTo>
                    <a:pt x="880907" y="0"/>
                    <a:pt x="892162" y="11256"/>
                    <a:pt x="892162" y="25140"/>
                  </a:cubicBezTo>
                  <a:lnTo>
                    <a:pt x="892162" y="1123133"/>
                  </a:lnTo>
                  <a:cubicBezTo>
                    <a:pt x="892162" y="1137018"/>
                    <a:pt x="880907" y="1148274"/>
                    <a:pt x="867022" y="1148274"/>
                  </a:cubicBezTo>
                  <a:lnTo>
                    <a:pt x="25140" y="1148274"/>
                  </a:lnTo>
                  <a:cubicBezTo>
                    <a:pt x="11256" y="1148274"/>
                    <a:pt x="0" y="1137018"/>
                    <a:pt x="0" y="1123133"/>
                  </a:cubicBezTo>
                  <a:lnTo>
                    <a:pt x="0" y="25140"/>
                  </a:lnTo>
                  <a:cubicBezTo>
                    <a:pt x="0" y="11256"/>
                    <a:pt x="11256" y="0"/>
                    <a:pt x="2514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92162" cy="1195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 lang="pt-BR" noProof="0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67528" y="3886834"/>
            <a:ext cx="3387429" cy="4359851"/>
            <a:chOff x="0" y="0"/>
            <a:chExt cx="892162" cy="11482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92162" cy="1148274"/>
            </a:xfrm>
            <a:custGeom>
              <a:avLst/>
              <a:gdLst/>
              <a:ahLst/>
              <a:cxnLst/>
              <a:rect l="l" t="t" r="r" b="b"/>
              <a:pathLst>
                <a:path w="892162" h="1148274">
                  <a:moveTo>
                    <a:pt x="25140" y="0"/>
                  </a:moveTo>
                  <a:lnTo>
                    <a:pt x="867022" y="0"/>
                  </a:lnTo>
                  <a:cubicBezTo>
                    <a:pt x="880907" y="0"/>
                    <a:pt x="892162" y="11256"/>
                    <a:pt x="892162" y="25140"/>
                  </a:cubicBezTo>
                  <a:lnTo>
                    <a:pt x="892162" y="1123133"/>
                  </a:lnTo>
                  <a:cubicBezTo>
                    <a:pt x="892162" y="1137018"/>
                    <a:pt x="880907" y="1148274"/>
                    <a:pt x="867022" y="1148274"/>
                  </a:cubicBezTo>
                  <a:lnTo>
                    <a:pt x="25140" y="1148274"/>
                  </a:lnTo>
                  <a:cubicBezTo>
                    <a:pt x="11256" y="1148274"/>
                    <a:pt x="0" y="1137018"/>
                    <a:pt x="0" y="1123133"/>
                  </a:cubicBezTo>
                  <a:lnTo>
                    <a:pt x="0" y="25140"/>
                  </a:lnTo>
                  <a:cubicBezTo>
                    <a:pt x="0" y="11256"/>
                    <a:pt x="11256" y="0"/>
                    <a:pt x="2514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92162" cy="1195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 lang="pt-BR" noProof="0" dirty="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202632" y="3886834"/>
            <a:ext cx="3387429" cy="4359851"/>
            <a:chOff x="0" y="0"/>
            <a:chExt cx="892162" cy="114827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92162" cy="1148274"/>
            </a:xfrm>
            <a:custGeom>
              <a:avLst/>
              <a:gdLst/>
              <a:ahLst/>
              <a:cxnLst/>
              <a:rect l="l" t="t" r="r" b="b"/>
              <a:pathLst>
                <a:path w="892162" h="1148274">
                  <a:moveTo>
                    <a:pt x="25140" y="0"/>
                  </a:moveTo>
                  <a:lnTo>
                    <a:pt x="867022" y="0"/>
                  </a:lnTo>
                  <a:cubicBezTo>
                    <a:pt x="880907" y="0"/>
                    <a:pt x="892162" y="11256"/>
                    <a:pt x="892162" y="25140"/>
                  </a:cubicBezTo>
                  <a:lnTo>
                    <a:pt x="892162" y="1123133"/>
                  </a:lnTo>
                  <a:cubicBezTo>
                    <a:pt x="892162" y="1137018"/>
                    <a:pt x="880907" y="1148274"/>
                    <a:pt x="867022" y="1148274"/>
                  </a:cubicBezTo>
                  <a:lnTo>
                    <a:pt x="25140" y="1148274"/>
                  </a:lnTo>
                  <a:cubicBezTo>
                    <a:pt x="11256" y="1148274"/>
                    <a:pt x="0" y="1137018"/>
                    <a:pt x="0" y="1123133"/>
                  </a:cubicBezTo>
                  <a:lnTo>
                    <a:pt x="0" y="25140"/>
                  </a:lnTo>
                  <a:cubicBezTo>
                    <a:pt x="0" y="11256"/>
                    <a:pt x="11256" y="0"/>
                    <a:pt x="2514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92162" cy="1195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 lang="pt-BR" noProof="0"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975573" y="4054546"/>
            <a:ext cx="1621120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52"/>
              </a:lnSpc>
              <a:spcBef>
                <a:spcPct val="0"/>
              </a:spcBef>
            </a:pPr>
            <a:r>
              <a:rPr lang="pt-BR" sz="3600" b="1" dirty="0">
                <a:solidFill>
                  <a:srgbClr val="255C8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UC</a:t>
            </a:r>
            <a:r>
              <a:rPr lang="pt-BR" sz="3600" b="1" noProof="0" dirty="0">
                <a:solidFill>
                  <a:srgbClr val="255C8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</a:t>
            </a:r>
            <a:r>
              <a:rPr lang="pt-BR" sz="3600" b="1" u="none" noProof="0" dirty="0">
                <a:solidFill>
                  <a:srgbClr val="255C8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75573" y="4984351"/>
            <a:ext cx="2164248" cy="673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pt-BR" sz="2400" b="1" dirty="0"/>
              <a:t>Cadastrar Obra(RF-003)</a:t>
            </a:r>
            <a:endParaRPr lang="pt-BR" sz="2400" b="1" noProof="0" dirty="0">
              <a:solidFill>
                <a:srgbClr val="000000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975573" y="6562075"/>
            <a:ext cx="2871051" cy="73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pt-BR" sz="2000" dirty="0" err="1"/>
              <a:t>Pré</a:t>
            </a:r>
            <a:r>
              <a:rPr lang="pt-BR" sz="2000" dirty="0"/>
              <a:t>- requisito para toda a plataforma</a:t>
            </a:r>
            <a:endParaRPr lang="pt-BR" sz="2000" noProof="0" dirty="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697320" y="1945646"/>
            <a:ext cx="10285192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pt-BR" sz="8000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Casos de Uso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19188" y="4054546"/>
            <a:ext cx="1621120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52"/>
              </a:lnSpc>
              <a:spcBef>
                <a:spcPct val="0"/>
              </a:spcBef>
            </a:pPr>
            <a:r>
              <a:rPr lang="pt-BR" sz="3600" b="1" dirty="0">
                <a:solidFill>
                  <a:srgbClr val="255C8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UC</a:t>
            </a:r>
            <a:r>
              <a:rPr lang="pt-BR" sz="3600" b="1" noProof="0" dirty="0">
                <a:solidFill>
                  <a:srgbClr val="255C8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-0</a:t>
            </a:r>
            <a:r>
              <a:rPr lang="pt-BR" sz="3600" b="1" dirty="0">
                <a:solidFill>
                  <a:srgbClr val="255C8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  <a:endParaRPr lang="pt-BR" sz="3600" b="1" u="none" noProof="0" dirty="0">
              <a:solidFill>
                <a:srgbClr val="255C8C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819187" y="4984351"/>
            <a:ext cx="2782805" cy="1006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pt-BR" sz="2400" b="1" dirty="0"/>
              <a:t>Calcular Materiais Automaticamente (RF-006):</a:t>
            </a:r>
            <a:endParaRPr lang="pt-BR" sz="2400" b="1" noProof="0" dirty="0">
              <a:solidFill>
                <a:srgbClr val="000000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779319" y="6548034"/>
            <a:ext cx="2862540" cy="73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pt-BR" sz="2000" dirty="0"/>
              <a:t>O principal diferencial </a:t>
            </a:r>
            <a:r>
              <a:rPr lang="pt-BR" sz="2000" dirty="0" err="1"/>
              <a:t>so</a:t>
            </a:r>
            <a:r>
              <a:rPr lang="pt-BR" sz="2000" dirty="0"/>
              <a:t> sistema.</a:t>
            </a:r>
            <a:endParaRPr lang="pt-BR" sz="2000" noProof="0" dirty="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640527" y="4054546"/>
            <a:ext cx="1621120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52"/>
              </a:lnSpc>
              <a:spcBef>
                <a:spcPct val="0"/>
              </a:spcBef>
            </a:pPr>
            <a:r>
              <a:rPr lang="pt-BR" sz="3600" b="1" dirty="0">
                <a:solidFill>
                  <a:srgbClr val="255C8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UC</a:t>
            </a:r>
            <a:r>
              <a:rPr lang="pt-BR" sz="3600" b="1" noProof="0" dirty="0">
                <a:solidFill>
                  <a:srgbClr val="255C8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-03</a:t>
            </a:r>
            <a:endParaRPr lang="pt-BR" sz="3600" b="1" u="none" noProof="0" dirty="0">
              <a:solidFill>
                <a:srgbClr val="255C8C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640527" y="4984351"/>
            <a:ext cx="2164248" cy="673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pt-BR" sz="2400" b="1" dirty="0"/>
              <a:t>Gerar Lista de Compra(RF-007)</a:t>
            </a:r>
            <a:endParaRPr lang="pt-BR" sz="2400" b="1" noProof="0" dirty="0">
              <a:solidFill>
                <a:srgbClr val="000000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640527" y="6548034"/>
            <a:ext cx="2874758" cy="355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pt-BR" sz="2000" dirty="0"/>
              <a:t>Saída prática do cálculo.</a:t>
            </a:r>
            <a:endParaRPr lang="pt-BR" sz="2000" noProof="0" dirty="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478857" y="4054546"/>
            <a:ext cx="1621120" cy="6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52"/>
              </a:lnSpc>
              <a:spcBef>
                <a:spcPct val="0"/>
              </a:spcBef>
            </a:pPr>
            <a:r>
              <a:rPr lang="pt-BR" sz="3600" b="1" noProof="0" dirty="0">
                <a:solidFill>
                  <a:srgbClr val="255C8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RF-0</a:t>
            </a:r>
            <a:r>
              <a:rPr lang="pt-BR" sz="3600" b="1" u="none" noProof="0" dirty="0">
                <a:solidFill>
                  <a:srgbClr val="255C8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473941" y="5815174"/>
            <a:ext cx="2345669" cy="1339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pt-BR" sz="2400" b="1" dirty="0"/>
              <a:t>Login e Autenticação (Pré-condição para todos).</a:t>
            </a:r>
            <a:endParaRPr lang="pt-BR" sz="2400" b="1" noProof="0" dirty="0">
              <a:solidFill>
                <a:srgbClr val="000000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C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/>
          <p:cNvSpPr txBox="1"/>
          <p:nvPr/>
        </p:nvSpPr>
        <p:spPr>
          <a:xfrm>
            <a:off x="3143775" y="1181100"/>
            <a:ext cx="12000449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pt-BR" sz="8000" b="1" noProof="0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Diagrama de Casos de Uso</a:t>
            </a:r>
          </a:p>
        </p:txBody>
      </p:sp>
      <p:pic>
        <p:nvPicPr>
          <p:cNvPr id="30" name="Imagem 29" descr="Diagrama&#10;&#10;O conteúdo gerado por IA pode estar incorreto.">
            <a:extLst>
              <a:ext uri="{FF2B5EF4-FFF2-40B4-BE49-F238E27FC236}">
                <a16:creationId xmlns:a16="http://schemas.microsoft.com/office/drawing/2014/main" id="{8AC3E3ED-2D2A-BFEC-CB9B-D997C8B45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881" y="3238500"/>
            <a:ext cx="7996238" cy="63325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C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914400" y="644432"/>
            <a:ext cx="13258800" cy="11539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pt-BR" sz="8000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Design e Arquitetura</a:t>
            </a:r>
            <a:endParaRPr lang="pt-BR" sz="8000" b="1" noProof="0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6D4FE084-5F15-4D26-1238-1B4E8C405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409513"/>
              </p:ext>
            </p:extLst>
          </p:nvPr>
        </p:nvGraphicFramePr>
        <p:xfrm>
          <a:off x="685800" y="3502922"/>
          <a:ext cx="16916400" cy="61625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38800">
                  <a:extLst>
                    <a:ext uri="{9D8B030D-6E8A-4147-A177-3AD203B41FA5}">
                      <a16:colId xmlns:a16="http://schemas.microsoft.com/office/drawing/2014/main" val="2842533679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414350893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3077509048"/>
                    </a:ext>
                  </a:extLst>
                </a:gridCol>
              </a:tblGrid>
              <a:tr h="4149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400" kern="0">
                          <a:effectLst/>
                        </a:rPr>
                        <a:t>Padrão</a:t>
                      </a:r>
                      <a:endParaRPr lang="pt-B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400" kern="0">
                          <a:effectLst/>
                        </a:rPr>
                        <a:t>Tipo</a:t>
                      </a:r>
                      <a:endParaRPr lang="pt-B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400" kern="0">
                          <a:effectLst/>
                        </a:rPr>
                        <a:t>Aplicação no Código</a:t>
                      </a:r>
                      <a:endParaRPr lang="pt-B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7415328"/>
                  </a:ext>
                </a:extLst>
              </a:tr>
              <a:tr h="17068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400" kern="0">
                          <a:effectLst/>
                        </a:rPr>
                        <a:t>Padrão Módulo</a:t>
                      </a:r>
                      <a:endParaRPr lang="pt-B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400" kern="0">
                          <a:effectLst/>
                        </a:rPr>
                        <a:t>Organização</a:t>
                      </a:r>
                      <a:endParaRPr lang="pt-B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400" kern="0">
                          <a:effectLst/>
                        </a:rPr>
                        <a:t>Presente em todos os arquivos (import/export), garantindo o encapsulamento e definindo interfaces públicas.</a:t>
                      </a:r>
                      <a:endParaRPr lang="pt-B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4601579"/>
                  </a:ext>
                </a:extLst>
              </a:tr>
              <a:tr h="17068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400" kern="0">
                          <a:effectLst/>
                        </a:rPr>
                        <a:t>Fachada (Facade)</a:t>
                      </a:r>
                      <a:endParaRPr lang="pt-B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400" kern="0">
                          <a:effectLst/>
                        </a:rPr>
                        <a:t>Estrutural</a:t>
                      </a:r>
                      <a:endParaRPr lang="pt-B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400" kern="0">
                          <a:effectLst/>
                        </a:rPr>
                        <a:t>O ObraModel atua como uma Fachada, simplificando a interface para os Controllers e ocultando a complexidade do acesso ao arquivo obras.json.</a:t>
                      </a:r>
                      <a:endParaRPr lang="pt-B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7029415"/>
                  </a:ext>
                </a:extLst>
              </a:tr>
              <a:tr h="21375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400" kern="0">
                          <a:effectLst/>
                        </a:rPr>
                        <a:t>Middleware</a:t>
                      </a:r>
                      <a:endParaRPr lang="pt-B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400" kern="0">
                          <a:effectLst/>
                        </a:rPr>
                        <a:t>Pipeline / Arquitetural</a:t>
                      </a:r>
                      <a:endParaRPr lang="pt-BR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400" kern="0" dirty="0">
                          <a:effectLst/>
                        </a:rPr>
                        <a:t>Implementado no authMiddleware.js. Atua como um Pipeline (ou cadeia de responsabilidade), verificando a autenticação e autorização (Pré-condição do UC-01) antes que a requisição chegue ao </a:t>
                      </a:r>
                      <a:r>
                        <a:rPr lang="pt-BR" sz="2400" kern="0" dirty="0" err="1">
                          <a:effectLst/>
                        </a:rPr>
                        <a:t>Controller</a:t>
                      </a:r>
                      <a:r>
                        <a:rPr lang="pt-BR" sz="2400" kern="0" dirty="0">
                          <a:effectLst/>
                        </a:rPr>
                        <a:t>.</a:t>
                      </a:r>
                      <a:endParaRPr lang="pt-BR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20318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C8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73412B-858B-25AB-DC50-5709AA552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3743B5AA-7B30-222E-F10F-9205B7D6F89D}"/>
              </a:ext>
            </a:extLst>
          </p:cNvPr>
          <p:cNvSpPr txBox="1"/>
          <p:nvPr/>
        </p:nvSpPr>
        <p:spPr>
          <a:xfrm>
            <a:off x="3276600" y="510702"/>
            <a:ext cx="13258800" cy="1144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800"/>
              </a:lnSpc>
            </a:pPr>
            <a:r>
              <a:rPr lang="pt-BR" sz="8000" dirty="0">
                <a:solidFill>
                  <a:schemeClr val="bg1"/>
                </a:solidFill>
              </a:rPr>
              <a:t>Data </a:t>
            </a:r>
            <a:r>
              <a:rPr lang="pt-BR" sz="8000" dirty="0" err="1">
                <a:solidFill>
                  <a:schemeClr val="bg1"/>
                </a:solidFill>
              </a:rPr>
              <a:t>Mapper</a:t>
            </a:r>
            <a:r>
              <a:rPr lang="pt-BR" sz="8000" dirty="0">
                <a:solidFill>
                  <a:schemeClr val="bg1"/>
                </a:solidFill>
              </a:rPr>
              <a:t> / </a:t>
            </a:r>
            <a:r>
              <a:rPr lang="pt-BR" sz="8000" dirty="0" err="1">
                <a:solidFill>
                  <a:schemeClr val="bg1"/>
                </a:solidFill>
              </a:rPr>
              <a:t>Repository</a:t>
            </a:r>
            <a:endParaRPr lang="pt-BR" sz="8000" b="1" noProof="0" dirty="0">
              <a:solidFill>
                <a:schemeClr val="bg1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407AA08-9613-94B2-F913-62C40306F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552700"/>
            <a:ext cx="8610600" cy="722359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B7724CE-5C3C-E83B-4DBA-8E95E9486E4E}"/>
              </a:ext>
            </a:extLst>
          </p:cNvPr>
          <p:cNvSpPr txBox="1"/>
          <p:nvPr/>
        </p:nvSpPr>
        <p:spPr>
          <a:xfrm>
            <a:off x="10363200" y="4404836"/>
            <a:ext cx="6477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500" dirty="0">
                <a:solidFill>
                  <a:schemeClr val="bg1"/>
                </a:solidFill>
              </a:rPr>
              <a:t>O método estático </a:t>
            </a:r>
            <a:r>
              <a:rPr lang="pt-BR" sz="2500" dirty="0" err="1">
                <a:solidFill>
                  <a:schemeClr val="bg1"/>
                </a:solidFill>
                <a:latin typeface="Courier New" panose="02070309020205020404" pitchFamily="49" charset="0"/>
              </a:rPr>
              <a:t>findByUserId</a:t>
            </a:r>
            <a:r>
              <a:rPr lang="pt-BR" sz="2500" dirty="0">
                <a:solidFill>
                  <a:schemeClr val="bg1"/>
                </a:solidFill>
                <a:latin typeface="Courier New" panose="02070309020205020404" pitchFamily="49" charset="0"/>
              </a:rPr>
              <a:t>(</a:t>
            </a:r>
            <a:r>
              <a:rPr lang="pt-BR" sz="2500" dirty="0" err="1">
                <a:solidFill>
                  <a:schemeClr val="bg1"/>
                </a:solidFill>
                <a:latin typeface="Courier New" panose="02070309020205020404" pitchFamily="49" charset="0"/>
              </a:rPr>
              <a:t>userId</a:t>
            </a:r>
            <a:r>
              <a:rPr lang="pt-BR" sz="2500" dirty="0">
                <a:solidFill>
                  <a:schemeClr val="bg1"/>
                </a:solidFill>
                <a:latin typeface="Courier New" panose="02070309020205020404" pitchFamily="49" charset="0"/>
              </a:rPr>
              <a:t>)</a:t>
            </a:r>
            <a:r>
              <a:rPr lang="pt-BR" sz="2500" dirty="0">
                <a:solidFill>
                  <a:schemeClr val="bg1"/>
                </a:solidFill>
              </a:rPr>
              <a:t> esconde como e onde os dados são buscados. Ele, nesse caso, vai buscar o arquivo JSON, mas futuramente, vai buscar arquivos SQL.</a:t>
            </a:r>
          </a:p>
        </p:txBody>
      </p:sp>
    </p:spTree>
    <p:extLst>
      <p:ext uri="{BB962C8B-B14F-4D97-AF65-F5344CB8AC3E}">
        <p14:creationId xmlns:p14="http://schemas.microsoft.com/office/powerpoint/2010/main" val="3633732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C8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1EF48A-3088-26F4-3212-8544CA4A0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C8B05496-215A-D6E9-74CB-3A2D7924B91A}"/>
              </a:ext>
            </a:extLst>
          </p:cNvPr>
          <p:cNvSpPr txBox="1"/>
          <p:nvPr/>
        </p:nvSpPr>
        <p:spPr>
          <a:xfrm>
            <a:off x="3094703" y="279192"/>
            <a:ext cx="13258800" cy="2273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800"/>
              </a:lnSpc>
            </a:pPr>
            <a:r>
              <a:rPr lang="pt-BR" sz="8000" dirty="0">
                <a:solidFill>
                  <a:schemeClr val="bg1"/>
                </a:solidFill>
              </a:rPr>
              <a:t>Chain </a:t>
            </a:r>
            <a:r>
              <a:rPr lang="pt-BR" sz="8000" dirty="0" err="1">
                <a:solidFill>
                  <a:schemeClr val="bg1"/>
                </a:solidFill>
              </a:rPr>
              <a:t>of</a:t>
            </a:r>
            <a:r>
              <a:rPr lang="pt-BR" sz="8000" dirty="0">
                <a:solidFill>
                  <a:schemeClr val="bg1"/>
                </a:solidFill>
              </a:rPr>
              <a:t> </a:t>
            </a:r>
            <a:r>
              <a:rPr lang="pt-BR" sz="8000" dirty="0" err="1">
                <a:solidFill>
                  <a:schemeClr val="bg1"/>
                </a:solidFill>
              </a:rPr>
              <a:t>Responsibility</a:t>
            </a:r>
            <a:r>
              <a:rPr lang="pt-BR" sz="8000" dirty="0">
                <a:solidFill>
                  <a:schemeClr val="bg1"/>
                </a:solidFill>
              </a:rPr>
              <a:t> (Cadeia de Responsabilidade)</a:t>
            </a:r>
            <a:endParaRPr lang="pt-BR" sz="8000" b="1" noProof="0" dirty="0">
              <a:solidFill>
                <a:schemeClr val="bg1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C8F49B6-1C4E-2EA3-3829-BEC3E8635DDB}"/>
              </a:ext>
            </a:extLst>
          </p:cNvPr>
          <p:cNvSpPr txBox="1"/>
          <p:nvPr/>
        </p:nvSpPr>
        <p:spPr>
          <a:xfrm>
            <a:off x="10363200" y="4404836"/>
            <a:ext cx="6477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</a:rPr>
              <a:t>Define o fluxo de processamento de uma requisição.</a:t>
            </a:r>
            <a:r>
              <a:rPr lang="pt-BR" sz="2400" dirty="0">
                <a:solidFill>
                  <a:schemeClr val="bg1"/>
                </a:solidFill>
              </a:rPr>
              <a:t> O authMiddleware.js (e outros middlewares) é um objeto na cadeia: ele decide se tem permissão para continuar (passa para o próximo) ou se interrompe o fluxo (retorna um erro).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711E202-2710-5070-FD24-DA3856108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963072"/>
            <a:ext cx="7986918" cy="591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976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C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06682" y="1148148"/>
            <a:ext cx="10642962" cy="114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pt-BR" sz="8000" b="1" dirty="0">
                <a:solidFill>
                  <a:schemeClr val="bg1"/>
                </a:solidFill>
              </a:rPr>
              <a:t>Código Fonte e API WEB</a:t>
            </a:r>
            <a:endParaRPr lang="pt-BR" sz="8000" b="1" noProof="0" dirty="0">
              <a:solidFill>
                <a:schemeClr val="bg1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-949225" y="0"/>
            <a:ext cx="6662939" cy="762000"/>
            <a:chOff x="0" y="0"/>
            <a:chExt cx="1754848" cy="2006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54848" cy="200691"/>
            </a:xfrm>
            <a:custGeom>
              <a:avLst/>
              <a:gdLst/>
              <a:ahLst/>
              <a:cxnLst/>
              <a:rect l="l" t="t" r="r" b="b"/>
              <a:pathLst>
                <a:path w="1754848" h="200691">
                  <a:moveTo>
                    <a:pt x="203200" y="0"/>
                  </a:moveTo>
                  <a:lnTo>
                    <a:pt x="1754848" y="0"/>
                  </a:lnTo>
                  <a:lnTo>
                    <a:pt x="1551648" y="200691"/>
                  </a:lnTo>
                  <a:lnTo>
                    <a:pt x="0" y="20069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47625"/>
              <a:ext cx="1551648" cy="248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 lang="pt-BR" noProof="0" dirty="0"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2574287" y="9525000"/>
            <a:ext cx="6662939" cy="762000"/>
            <a:chOff x="0" y="0"/>
            <a:chExt cx="1754848" cy="2006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54848" cy="200691"/>
            </a:xfrm>
            <a:custGeom>
              <a:avLst/>
              <a:gdLst/>
              <a:ahLst/>
              <a:cxnLst/>
              <a:rect l="l" t="t" r="r" b="b"/>
              <a:pathLst>
                <a:path w="1754848" h="200691">
                  <a:moveTo>
                    <a:pt x="203200" y="0"/>
                  </a:moveTo>
                  <a:lnTo>
                    <a:pt x="1754848" y="0"/>
                  </a:lnTo>
                  <a:lnTo>
                    <a:pt x="1551648" y="200691"/>
                  </a:lnTo>
                  <a:lnTo>
                    <a:pt x="0" y="20069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-47625"/>
              <a:ext cx="1551648" cy="248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 lang="pt-BR" noProof="0" dirty="0"/>
            </a:p>
          </p:txBody>
        </p:sp>
      </p:grp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B850B87-90D3-1387-42A5-B7C14E620ABA}"/>
              </a:ext>
            </a:extLst>
          </p:cNvPr>
          <p:cNvSpPr txBox="1"/>
          <p:nvPr/>
        </p:nvSpPr>
        <p:spPr>
          <a:xfrm>
            <a:off x="1600200" y="4229100"/>
            <a:ext cx="15087600" cy="2428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749"/>
              </a:lnSpc>
              <a:buNone/>
            </a:pPr>
            <a:r>
              <a:rPr lang="pt-BR" sz="2499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Tecnologias: </a:t>
            </a:r>
            <a:r>
              <a:rPr lang="pt-BR" sz="2499" b="1" dirty="0" err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Backend</a:t>
            </a:r>
            <a:r>
              <a:rPr lang="pt-BR" sz="2499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 em Node.js e Express.</a:t>
            </a:r>
          </a:p>
          <a:p>
            <a:pPr>
              <a:lnSpc>
                <a:spcPts val="3749"/>
              </a:lnSpc>
              <a:buNone/>
            </a:pPr>
            <a:r>
              <a:rPr lang="pt-BR" sz="2499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Fluxograma da API (API </a:t>
            </a:r>
            <a:r>
              <a:rPr lang="pt-BR" sz="2499" b="1" dirty="0" err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RESTfull</a:t>
            </a:r>
            <a:r>
              <a:rPr lang="pt-BR" sz="2499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): Front → Rotas (.</a:t>
            </a:r>
            <a:r>
              <a:rPr lang="pt-BR" sz="2499" b="1" dirty="0" err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js</a:t>
            </a:r>
            <a:r>
              <a:rPr lang="pt-BR" sz="2499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) → Middleware (Validação/Segurança) → </a:t>
            </a:r>
            <a:r>
              <a:rPr lang="pt-BR" sz="2499" b="1" dirty="0" err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Controllers</a:t>
            </a:r>
            <a:r>
              <a:rPr lang="pt-BR" sz="2499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 (Lógica de Negócio) → Models (Acesso a Dados).</a:t>
            </a:r>
          </a:p>
          <a:p>
            <a:pPr>
              <a:lnSpc>
                <a:spcPts val="3749"/>
              </a:lnSpc>
              <a:buNone/>
            </a:pPr>
            <a:r>
              <a:rPr lang="pt-BR" sz="2499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Persistência Atual: Arquivos JSON (para </a:t>
            </a:r>
            <a:r>
              <a:rPr lang="pt-BR" sz="2499" b="1" dirty="0" err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mockup</a:t>
            </a:r>
            <a:r>
              <a:rPr lang="pt-BR" sz="2499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), que será migrada para MySQL via </a:t>
            </a:r>
            <a:r>
              <a:rPr lang="pt-BR" sz="2499" b="1" dirty="0" err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Sequelize</a:t>
            </a:r>
            <a:r>
              <a:rPr lang="pt-BR" sz="2499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.</a:t>
            </a:r>
          </a:p>
          <a:p>
            <a:pPr>
              <a:lnSpc>
                <a:spcPts val="3749"/>
              </a:lnSpc>
              <a:buNone/>
            </a:pPr>
            <a:r>
              <a:rPr lang="pt-BR" sz="2499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Operações: Implementação de operações CRUD completas (RF-005, RF-003).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C8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331B6-9E1B-EA2B-850E-CE348479C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900455F-C1E2-5C7F-828D-8345FD705E37}"/>
              </a:ext>
            </a:extLst>
          </p:cNvPr>
          <p:cNvSpPr txBox="1"/>
          <p:nvPr/>
        </p:nvSpPr>
        <p:spPr>
          <a:xfrm>
            <a:off x="3806682" y="1148148"/>
            <a:ext cx="10642962" cy="114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pt-BR" sz="8000" b="1" dirty="0">
                <a:solidFill>
                  <a:schemeClr val="bg1"/>
                </a:solidFill>
              </a:rPr>
              <a:t>Código Fonte e API WEB</a:t>
            </a:r>
            <a:endParaRPr lang="pt-BR" sz="8000" b="1" noProof="0" dirty="0">
              <a:solidFill>
                <a:schemeClr val="bg1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C15181E8-A063-AD26-3EF0-5223A14C7751}"/>
              </a:ext>
            </a:extLst>
          </p:cNvPr>
          <p:cNvGrpSpPr/>
          <p:nvPr/>
        </p:nvGrpSpPr>
        <p:grpSpPr>
          <a:xfrm>
            <a:off x="-949225" y="0"/>
            <a:ext cx="6662939" cy="762000"/>
            <a:chOff x="0" y="0"/>
            <a:chExt cx="1754848" cy="20069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84C4F23-799B-C6A1-4663-C7A595B2D1EC}"/>
                </a:ext>
              </a:extLst>
            </p:cNvPr>
            <p:cNvSpPr/>
            <p:nvPr/>
          </p:nvSpPr>
          <p:spPr>
            <a:xfrm>
              <a:off x="0" y="0"/>
              <a:ext cx="1754848" cy="200691"/>
            </a:xfrm>
            <a:custGeom>
              <a:avLst/>
              <a:gdLst/>
              <a:ahLst/>
              <a:cxnLst/>
              <a:rect l="l" t="t" r="r" b="b"/>
              <a:pathLst>
                <a:path w="1754848" h="200691">
                  <a:moveTo>
                    <a:pt x="203200" y="0"/>
                  </a:moveTo>
                  <a:lnTo>
                    <a:pt x="1754848" y="0"/>
                  </a:lnTo>
                  <a:lnTo>
                    <a:pt x="1551648" y="200691"/>
                  </a:lnTo>
                  <a:lnTo>
                    <a:pt x="0" y="20069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8988E9D-0A78-8568-03FA-5AB470116ED3}"/>
                </a:ext>
              </a:extLst>
            </p:cNvPr>
            <p:cNvSpPr txBox="1"/>
            <p:nvPr/>
          </p:nvSpPr>
          <p:spPr>
            <a:xfrm>
              <a:off x="101600" y="-47625"/>
              <a:ext cx="1551648" cy="248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 lang="pt-BR" noProof="0" dirty="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9E79B0F-8AB8-4540-36CF-B414F577D78C}"/>
              </a:ext>
            </a:extLst>
          </p:cNvPr>
          <p:cNvGrpSpPr/>
          <p:nvPr/>
        </p:nvGrpSpPr>
        <p:grpSpPr>
          <a:xfrm rot="-10800000">
            <a:off x="12574287" y="9525000"/>
            <a:ext cx="6662939" cy="762000"/>
            <a:chOff x="0" y="0"/>
            <a:chExt cx="1754848" cy="200691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55A3063-33AE-0519-2908-3A764F336C59}"/>
                </a:ext>
              </a:extLst>
            </p:cNvPr>
            <p:cNvSpPr/>
            <p:nvPr/>
          </p:nvSpPr>
          <p:spPr>
            <a:xfrm>
              <a:off x="0" y="0"/>
              <a:ext cx="1754848" cy="200691"/>
            </a:xfrm>
            <a:custGeom>
              <a:avLst/>
              <a:gdLst/>
              <a:ahLst/>
              <a:cxnLst/>
              <a:rect l="l" t="t" r="r" b="b"/>
              <a:pathLst>
                <a:path w="1754848" h="200691">
                  <a:moveTo>
                    <a:pt x="203200" y="0"/>
                  </a:moveTo>
                  <a:lnTo>
                    <a:pt x="1754848" y="0"/>
                  </a:lnTo>
                  <a:lnTo>
                    <a:pt x="1551648" y="200691"/>
                  </a:lnTo>
                  <a:lnTo>
                    <a:pt x="0" y="20069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E20882C-4171-9018-07A5-D7EA83BE92B5}"/>
                </a:ext>
              </a:extLst>
            </p:cNvPr>
            <p:cNvSpPr txBox="1"/>
            <p:nvPr/>
          </p:nvSpPr>
          <p:spPr>
            <a:xfrm>
              <a:off x="101600" y="-47625"/>
              <a:ext cx="1551648" cy="248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 lang="pt-BR" noProof="0" dirty="0"/>
            </a:p>
          </p:txBody>
        </p:sp>
      </p:grpSp>
      <p:pic>
        <p:nvPicPr>
          <p:cNvPr id="3" name="Imagem 2" descr="Tela de jogo de vídeo game&#10;&#10;O conteúdo gerado por IA pode estar incorreto.">
            <a:extLst>
              <a:ext uri="{FF2B5EF4-FFF2-40B4-BE49-F238E27FC236}">
                <a16:creationId xmlns:a16="http://schemas.microsoft.com/office/drawing/2014/main" id="{267C39C2-71E3-33EE-03E0-7CC94CE04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50" y="2405920"/>
            <a:ext cx="3505200" cy="6641624"/>
          </a:xfrm>
          <a:prstGeom prst="rect">
            <a:avLst/>
          </a:prstGeom>
        </p:spPr>
      </p:pic>
      <p:pic>
        <p:nvPicPr>
          <p:cNvPr id="4" name="Imagem 3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EF8ABFCD-CADB-6B47-2624-08846F4B12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89" b="2808"/>
          <a:stretch>
            <a:fillRect/>
          </a:stretch>
        </p:blipFill>
        <p:spPr bwMode="auto">
          <a:xfrm>
            <a:off x="9144000" y="2405920"/>
            <a:ext cx="3124200" cy="75000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20928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7" b="-37"/>
            </a:stretch>
          </a:blipFill>
        </p:spPr>
        <p:txBody>
          <a:bodyPr/>
          <a:lstStyle/>
          <a:p>
            <a:endParaRPr lang="pt-BR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1345187" y="0"/>
            <a:ext cx="6662939" cy="762000"/>
            <a:chOff x="0" y="0"/>
            <a:chExt cx="1754848" cy="2006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54848" cy="200691"/>
            </a:xfrm>
            <a:custGeom>
              <a:avLst/>
              <a:gdLst/>
              <a:ahLst/>
              <a:cxnLst/>
              <a:rect l="l" t="t" r="r" b="b"/>
              <a:pathLst>
                <a:path w="1754848" h="200691">
                  <a:moveTo>
                    <a:pt x="203200" y="0"/>
                  </a:moveTo>
                  <a:lnTo>
                    <a:pt x="1754848" y="0"/>
                  </a:lnTo>
                  <a:lnTo>
                    <a:pt x="1551648" y="200691"/>
                  </a:lnTo>
                  <a:lnTo>
                    <a:pt x="0" y="20069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55C8C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47625"/>
              <a:ext cx="1551648" cy="248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 lang="pt-BR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12375296" y="9525000"/>
            <a:ext cx="6662939" cy="762000"/>
            <a:chOff x="0" y="0"/>
            <a:chExt cx="1754848" cy="20069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4848" cy="200691"/>
            </a:xfrm>
            <a:custGeom>
              <a:avLst/>
              <a:gdLst/>
              <a:ahLst/>
              <a:cxnLst/>
              <a:rect l="l" t="t" r="r" b="b"/>
              <a:pathLst>
                <a:path w="1754848" h="200691">
                  <a:moveTo>
                    <a:pt x="203200" y="0"/>
                  </a:moveTo>
                  <a:lnTo>
                    <a:pt x="1754848" y="0"/>
                  </a:lnTo>
                  <a:lnTo>
                    <a:pt x="1551648" y="200691"/>
                  </a:lnTo>
                  <a:lnTo>
                    <a:pt x="0" y="20069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55C8C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600" y="-47625"/>
              <a:ext cx="1551648" cy="248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 lang="pt-BR" noProof="0" dirty="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779903"/>
            <a:ext cx="12240999" cy="1003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pt-BR" sz="7000" b="1" noProof="0" dirty="0">
                <a:solidFill>
                  <a:srgbClr val="255C8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Conclusão </a:t>
            </a:r>
            <a:r>
              <a:rPr lang="pt-BR" sz="7000" b="1" dirty="0">
                <a:solidFill>
                  <a:srgbClr val="255C8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Desafios e Soluções</a:t>
            </a:r>
            <a:endParaRPr lang="pt-BR" sz="7000" b="1" noProof="0" dirty="0">
              <a:solidFill>
                <a:srgbClr val="255C8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3000" y="3215279"/>
            <a:ext cx="11460953" cy="1893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pt-BR" sz="2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Problema ao linkar o formulário de cadastro com formulário.</a:t>
            </a:r>
            <a:br>
              <a:rPr lang="pt-BR" sz="2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br>
              <a:rPr lang="pt-BR" sz="2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r>
              <a:rPr lang="pt-BR" sz="2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Problemas em fazer um projeto do zero.</a:t>
            </a:r>
            <a:br>
              <a:rPr lang="pt-BR" sz="2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br>
              <a:rPr lang="pt-BR" sz="2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r>
              <a:rPr lang="pt-BR" sz="2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Problemas de gestão</a:t>
            </a:r>
            <a:endParaRPr lang="pt-BR" sz="2000" noProof="0" dirty="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12429-28BE-892A-E034-475DFD2E7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07F2545-06D7-F918-91F1-CF843C4E958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7" b="-37"/>
            </a:stretch>
          </a:blipFill>
        </p:spPr>
        <p:txBody>
          <a:bodyPr/>
          <a:lstStyle/>
          <a:p>
            <a:endParaRPr lang="pt-BR" noProof="0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AD7DB90-B383-3286-089C-4E484356A2A4}"/>
              </a:ext>
            </a:extLst>
          </p:cNvPr>
          <p:cNvGrpSpPr/>
          <p:nvPr/>
        </p:nvGrpSpPr>
        <p:grpSpPr>
          <a:xfrm>
            <a:off x="-1345187" y="0"/>
            <a:ext cx="6662939" cy="762000"/>
            <a:chOff x="0" y="0"/>
            <a:chExt cx="1754848" cy="20069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6BF5E0F-2E46-D4DF-8F34-3C932F746D2A}"/>
                </a:ext>
              </a:extLst>
            </p:cNvPr>
            <p:cNvSpPr/>
            <p:nvPr/>
          </p:nvSpPr>
          <p:spPr>
            <a:xfrm>
              <a:off x="0" y="0"/>
              <a:ext cx="1754848" cy="200691"/>
            </a:xfrm>
            <a:custGeom>
              <a:avLst/>
              <a:gdLst/>
              <a:ahLst/>
              <a:cxnLst/>
              <a:rect l="l" t="t" r="r" b="b"/>
              <a:pathLst>
                <a:path w="1754848" h="200691">
                  <a:moveTo>
                    <a:pt x="203200" y="0"/>
                  </a:moveTo>
                  <a:lnTo>
                    <a:pt x="1754848" y="0"/>
                  </a:lnTo>
                  <a:lnTo>
                    <a:pt x="1551648" y="200691"/>
                  </a:lnTo>
                  <a:lnTo>
                    <a:pt x="0" y="20069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55C8C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F64F55A-F988-5F80-0FBF-9A34A203E0A1}"/>
                </a:ext>
              </a:extLst>
            </p:cNvPr>
            <p:cNvSpPr txBox="1"/>
            <p:nvPr/>
          </p:nvSpPr>
          <p:spPr>
            <a:xfrm>
              <a:off x="101600" y="-47625"/>
              <a:ext cx="1551648" cy="248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7A16E11-ED6C-A455-003A-737AFB535965}"/>
              </a:ext>
            </a:extLst>
          </p:cNvPr>
          <p:cNvGrpSpPr/>
          <p:nvPr/>
        </p:nvGrpSpPr>
        <p:grpSpPr>
          <a:xfrm rot="-10800000">
            <a:off x="12375296" y="9525000"/>
            <a:ext cx="6662939" cy="762000"/>
            <a:chOff x="0" y="0"/>
            <a:chExt cx="1754848" cy="20069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1790C93-5BD2-D2C2-3334-1E36E059B3FA}"/>
                </a:ext>
              </a:extLst>
            </p:cNvPr>
            <p:cNvSpPr/>
            <p:nvPr/>
          </p:nvSpPr>
          <p:spPr>
            <a:xfrm>
              <a:off x="0" y="0"/>
              <a:ext cx="1754848" cy="200691"/>
            </a:xfrm>
            <a:custGeom>
              <a:avLst/>
              <a:gdLst/>
              <a:ahLst/>
              <a:cxnLst/>
              <a:rect l="l" t="t" r="r" b="b"/>
              <a:pathLst>
                <a:path w="1754848" h="200691">
                  <a:moveTo>
                    <a:pt x="203200" y="0"/>
                  </a:moveTo>
                  <a:lnTo>
                    <a:pt x="1754848" y="0"/>
                  </a:lnTo>
                  <a:lnTo>
                    <a:pt x="1551648" y="200691"/>
                  </a:lnTo>
                  <a:lnTo>
                    <a:pt x="0" y="20069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55C8C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E46AFA4-A744-DAD0-784D-807C08FBC528}"/>
                </a:ext>
              </a:extLst>
            </p:cNvPr>
            <p:cNvSpPr txBox="1"/>
            <p:nvPr/>
          </p:nvSpPr>
          <p:spPr>
            <a:xfrm>
              <a:off x="101600" y="-47625"/>
              <a:ext cx="1551648" cy="248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 lang="pt-BR" noProof="0" dirty="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EDB20A0B-70A5-C9DC-9FA8-4261EE53217B}"/>
              </a:ext>
            </a:extLst>
          </p:cNvPr>
          <p:cNvSpPr txBox="1"/>
          <p:nvPr/>
        </p:nvSpPr>
        <p:spPr>
          <a:xfrm>
            <a:off x="1028700" y="1779903"/>
            <a:ext cx="12240999" cy="1003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pt-BR" sz="7000" b="1" noProof="0" dirty="0">
                <a:solidFill>
                  <a:srgbClr val="255C8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Conclusão e Próximos Passos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A76B3F4-2177-D5E0-5A1E-4D5D39B39F1C}"/>
              </a:ext>
            </a:extLst>
          </p:cNvPr>
          <p:cNvSpPr txBox="1"/>
          <p:nvPr/>
        </p:nvSpPr>
        <p:spPr>
          <a:xfrm>
            <a:off x="1143000" y="3215279"/>
            <a:ext cx="13868400" cy="3201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br>
              <a:rPr lang="pt-BR" sz="2000" noProof="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br>
              <a:rPr lang="pt-BR" sz="2000" noProof="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r>
              <a:rPr lang="pt-BR" sz="2000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Migração Crítica para MySQL</a:t>
            </a:r>
            <a:r>
              <a:rPr lang="pt-BR" sz="2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: Resolver problemas de escalabilidade e concorrência.</a:t>
            </a:r>
            <a:br>
              <a:rPr lang="pt-BR" sz="2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</a:br>
            <a:endParaRPr lang="pt-BR" sz="2000" dirty="0">
              <a:solidFill>
                <a:srgbClr val="000000"/>
              </a:solidFill>
              <a:latin typeface="Open Sans Medium"/>
              <a:ea typeface="Open Sans Medium"/>
              <a:cs typeface="Open Sans Medium"/>
            </a:endParaRPr>
          </a:p>
          <a:p>
            <a:pPr algn="just"/>
            <a:r>
              <a:rPr lang="pt-BR" sz="2000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Desenvolvimento do Módulo de Cálculo (UC-02): </a:t>
            </a:r>
            <a:r>
              <a:rPr lang="pt-BR" sz="2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Implementação completa dos cálculos</a:t>
            </a:r>
            <a:br>
              <a:rPr lang="pt-BR" sz="2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</a:br>
            <a:br>
              <a:rPr lang="pt-BR" sz="2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</a:br>
            <a:r>
              <a:rPr lang="pt-BR" sz="2000" b="1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Desenvolvimento dos Módulos Colaborativos:</a:t>
            </a:r>
            <a:r>
              <a:rPr lang="pt-BR" sz="2000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</a:rPr>
              <a:t> Fóruns (RF-009) e Indicação de Profissionais/Fornecedores (RF-008).</a:t>
            </a:r>
          </a:p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endParaRPr lang="pt-BR" sz="2000" noProof="0" dirty="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algn="l">
              <a:lnSpc>
                <a:spcPts val="3000"/>
              </a:lnSpc>
            </a:pPr>
            <a:endParaRPr lang="pt-BR" sz="2000" b="1" noProof="0" dirty="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2276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C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49225" y="0"/>
            <a:ext cx="6662939" cy="762000"/>
            <a:chOff x="0" y="0"/>
            <a:chExt cx="1754848" cy="2006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4848" cy="200691"/>
            </a:xfrm>
            <a:custGeom>
              <a:avLst/>
              <a:gdLst/>
              <a:ahLst/>
              <a:cxnLst/>
              <a:rect l="l" t="t" r="r" b="b"/>
              <a:pathLst>
                <a:path w="1754848" h="200691">
                  <a:moveTo>
                    <a:pt x="203200" y="0"/>
                  </a:moveTo>
                  <a:lnTo>
                    <a:pt x="1754848" y="0"/>
                  </a:lnTo>
                  <a:lnTo>
                    <a:pt x="1551648" y="200691"/>
                  </a:lnTo>
                  <a:lnTo>
                    <a:pt x="0" y="20069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47625"/>
              <a:ext cx="1551648" cy="248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 lang="pt-BR" noProof="0" dirty="0"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2574287" y="9525000"/>
            <a:ext cx="6662939" cy="762000"/>
            <a:chOff x="0" y="0"/>
            <a:chExt cx="1754848" cy="2006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54848" cy="200691"/>
            </a:xfrm>
            <a:custGeom>
              <a:avLst/>
              <a:gdLst/>
              <a:ahLst/>
              <a:cxnLst/>
              <a:rect l="l" t="t" r="r" b="b"/>
              <a:pathLst>
                <a:path w="1754848" h="200691">
                  <a:moveTo>
                    <a:pt x="203200" y="0"/>
                  </a:moveTo>
                  <a:lnTo>
                    <a:pt x="1754848" y="0"/>
                  </a:lnTo>
                  <a:lnTo>
                    <a:pt x="1551648" y="200691"/>
                  </a:lnTo>
                  <a:lnTo>
                    <a:pt x="0" y="20069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47625"/>
              <a:ext cx="1551648" cy="248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 lang="pt-BR" noProof="0" dirty="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25124" y="3051175"/>
            <a:ext cx="15837752" cy="376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9"/>
              </a:lnSpc>
              <a:spcBef>
                <a:spcPct val="0"/>
              </a:spcBef>
            </a:pPr>
            <a:r>
              <a:rPr lang="pt-BR" sz="21999" spc="-879" noProof="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685</Words>
  <Application>Microsoft Office PowerPoint</Application>
  <PresentationFormat>Personalizar</PresentationFormat>
  <Paragraphs>76</Paragraphs>
  <Slides>14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4" baseType="lpstr">
      <vt:lpstr>Calibri</vt:lpstr>
      <vt:lpstr>Aptos</vt:lpstr>
      <vt:lpstr>Arial</vt:lpstr>
      <vt:lpstr>Open Sans Bold</vt:lpstr>
      <vt:lpstr>Open Sans Medium</vt:lpstr>
      <vt:lpstr>Courier New</vt:lpstr>
      <vt:lpstr>HK Grotesk Medium</vt:lpstr>
      <vt:lpstr>HK Grotesk Bold</vt:lpstr>
      <vt:lpstr>HK Grotesk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Obra Integrada na construção civil</dc:title>
  <cp:lastModifiedBy>LUCAS FERNANDES MACHADO DE SOUZA</cp:lastModifiedBy>
  <cp:revision>9</cp:revision>
  <dcterms:created xsi:type="dcterms:W3CDTF">2006-08-16T00:00:00Z</dcterms:created>
  <dcterms:modified xsi:type="dcterms:W3CDTF">2025-11-18T00:03:08Z</dcterms:modified>
  <dc:identifier>DAGzuyWwluc</dc:identifier>
</cp:coreProperties>
</file>